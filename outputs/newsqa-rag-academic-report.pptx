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02e27fba594e37" /><Relationship Type="http://schemas.openxmlformats.org/officeDocument/2006/relationships/extended-properties" Target="/docProps/app.xml" Id="Rd8d998c920264efc" /><Relationship Type="http://schemas.openxmlformats.org/officeDocument/2006/relationships/officeDocument" Target="/ppt/presentation.xml" Id="R3c99fd987fbc4b1a" /></Relationships>
</file>

<file path=ppt/presentation.xml><?xml version="1.0" encoding="utf-8"?>
<p:presentation xmlns:p="http://schemas.openxmlformats.org/presentationml/2006/main">
  <p:sldMasterIdLst>
    <p:sldMasterId xmlns:r="http://schemas.openxmlformats.org/officeDocument/2006/relationships" id="2147483648" r:id="Re85d0e195c004608"/>
  </p:sldMasterIdLst>
  <p:notesMasterIdLst>
    <p:notesMasterId xmlns:r="http://schemas.openxmlformats.org/officeDocument/2006/relationships" r:id="R2024b333f34e469d"/>
  </p:notesMasterIdLst>
  <p:sldIdLst>
    <p:sldId xmlns:r="http://schemas.openxmlformats.org/officeDocument/2006/relationships" id="256" r:id="R515c2c0770264ddc"/>
    <p:sldId xmlns:r="http://schemas.openxmlformats.org/officeDocument/2006/relationships" id="257" r:id="Rd519f7275d644821"/>
    <p:sldId xmlns:r="http://schemas.openxmlformats.org/officeDocument/2006/relationships" id="258" r:id="R02a02768023a4236"/>
    <p:sldId xmlns:r="http://schemas.openxmlformats.org/officeDocument/2006/relationships" id="259" r:id="R12f14bf1ba284404"/>
    <p:sldId xmlns:r="http://schemas.openxmlformats.org/officeDocument/2006/relationships" id="260" r:id="R622c75412466411c"/>
    <p:sldId xmlns:r="http://schemas.openxmlformats.org/officeDocument/2006/relationships" id="261" r:id="R3a00629a9f5b4d3d"/>
    <p:sldId xmlns:r="http://schemas.openxmlformats.org/officeDocument/2006/relationships" id="262" r:id="Rf482436d4a5844ef"/>
    <p:sldId xmlns:r="http://schemas.openxmlformats.org/officeDocument/2006/relationships" id="263" r:id="R49037e1909764c87"/>
    <p:sldId xmlns:r="http://schemas.openxmlformats.org/officeDocument/2006/relationships" id="264" r:id="R05858c2cf4ce466d"/>
    <p:sldId xmlns:r="http://schemas.openxmlformats.org/officeDocument/2006/relationships" id="265" r:id="R988b121b264d447f"/>
    <p:sldId xmlns:r="http://schemas.openxmlformats.org/officeDocument/2006/relationships" id="266" r:id="R8527564641c04e9b"/>
    <p:sldId xmlns:r="http://schemas.openxmlformats.org/officeDocument/2006/relationships" id="267" r:id="R7a346aba63874c7e"/>
    <p:sldId xmlns:r="http://schemas.openxmlformats.org/officeDocument/2006/relationships" id="268" r:id="R1bd3d68cb9244f74"/>
    <p:sldId xmlns:r="http://schemas.openxmlformats.org/officeDocument/2006/relationships" id="269" r:id="R1537807c197c43bc"/>
    <p:sldId xmlns:r="http://schemas.openxmlformats.org/officeDocument/2006/relationships" id="270" r:id="Rf24a12a8bd2d4af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e1e7c6862d459a" /><Relationship Type="http://schemas.openxmlformats.org/officeDocument/2006/relationships/slideMaster" Target="/ppt/slideMasters/slideMaster1.xml" Id="Re85d0e195c004608" /><Relationship Type="http://schemas.openxmlformats.org/officeDocument/2006/relationships/notesMaster" Target="/ppt/notesMasters/notesMaster1.xml" Id="R2024b333f34e469d" /><Relationship Type="http://schemas.openxmlformats.org/officeDocument/2006/relationships/presProps" Target="/ppt/presProps.xml" Id="Re6fe49f483304a30" /><Relationship Type="http://schemas.openxmlformats.org/officeDocument/2006/relationships/tableStyles" Target="/ppt/tableStyles.xml" Id="Rfbdc16dc3d0e456e" /><Relationship Type="http://schemas.openxmlformats.org/officeDocument/2006/relationships/slide" Target="/ppt/slides/slide1.xml" Id="R515c2c0770264ddc" /><Relationship Type="http://schemas.openxmlformats.org/officeDocument/2006/relationships/slide" Target="/ppt/slides/slide2.xml" Id="Rd519f7275d644821" /><Relationship Type="http://schemas.openxmlformats.org/officeDocument/2006/relationships/slide" Target="/ppt/slides/slide3.xml" Id="R02a02768023a4236" /><Relationship Type="http://schemas.openxmlformats.org/officeDocument/2006/relationships/slide" Target="/ppt/slides/slide4.xml" Id="R12f14bf1ba284404" /><Relationship Type="http://schemas.openxmlformats.org/officeDocument/2006/relationships/slide" Target="/ppt/slides/slide5.xml" Id="R622c75412466411c" /><Relationship Type="http://schemas.openxmlformats.org/officeDocument/2006/relationships/slide" Target="/ppt/slides/slide6.xml" Id="R3a00629a9f5b4d3d" /><Relationship Type="http://schemas.openxmlformats.org/officeDocument/2006/relationships/slide" Target="/ppt/slides/slide7.xml" Id="Rf482436d4a5844ef" /><Relationship Type="http://schemas.openxmlformats.org/officeDocument/2006/relationships/slide" Target="/ppt/slides/slide8.xml" Id="R49037e1909764c87" /><Relationship Type="http://schemas.openxmlformats.org/officeDocument/2006/relationships/slide" Target="/ppt/slides/slide9.xml" Id="R05858c2cf4ce466d" /><Relationship Type="http://schemas.openxmlformats.org/officeDocument/2006/relationships/slide" Target="/ppt/slides/slide10.xml" Id="R988b121b264d447f" /><Relationship Type="http://schemas.openxmlformats.org/officeDocument/2006/relationships/slide" Target="/ppt/slides/slide11.xml" Id="R8527564641c04e9b" /><Relationship Type="http://schemas.openxmlformats.org/officeDocument/2006/relationships/slide" Target="/ppt/slides/slide12.xml" Id="R7a346aba63874c7e" /><Relationship Type="http://schemas.openxmlformats.org/officeDocument/2006/relationships/slide" Target="/ppt/slides/slide13.xml" Id="R1bd3d68cb9244f74" /><Relationship Type="http://schemas.openxmlformats.org/officeDocument/2006/relationships/slide" Target="/ppt/slides/slide14.xml" Id="R1537807c197c43bc" /><Relationship Type="http://schemas.openxmlformats.org/officeDocument/2006/relationships/slide" Target="/ppt/slides/slide15.xml" Id="Rf24a12a8bd2d4a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cbea75efb447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19f2b8e0254de4" /><Relationship Type="http://schemas.openxmlformats.org/officeDocument/2006/relationships/notesMaster" Target="/ppt/notesMasters/notesMaster1.xml" Id="R0456a607c5554e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b9729d61524257" /><Relationship Type="http://schemas.openxmlformats.org/officeDocument/2006/relationships/notesMaster" Target="/ppt/notesMasters/notesMaster1.xml" Id="Red95d73182444a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f146a4e10946b0" /><Relationship Type="http://schemas.openxmlformats.org/officeDocument/2006/relationships/notesMaster" Target="/ppt/notesMasters/notesMaster1.xml" Id="Re81e70b6ef604d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5f36a8af1044f4" /><Relationship Type="http://schemas.openxmlformats.org/officeDocument/2006/relationships/notesMaster" Target="/ppt/notesMasters/notesMaster1.xml" Id="R62676bf88bd743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ef8ae718704693" /><Relationship Type="http://schemas.openxmlformats.org/officeDocument/2006/relationships/notesMaster" Target="/ppt/notesMasters/notesMaster1.xml" Id="R0c282d89e51c45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255fb172f44ad1" /><Relationship Type="http://schemas.openxmlformats.org/officeDocument/2006/relationships/notesMaster" Target="/ppt/notesMasters/notesMaster1.xml" Id="R4ae22ad6de9446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e135bc51e3495d" /><Relationship Type="http://schemas.openxmlformats.org/officeDocument/2006/relationships/notesMaster" Target="/ppt/notesMasters/notesMaster1.xml" Id="R04076394a1cb45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205b310fef4504" /><Relationship Type="http://schemas.openxmlformats.org/officeDocument/2006/relationships/notesMaster" Target="/ppt/notesMasters/notesMaster1.xml" Id="R287b06e9fca04b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6584115ebf4152" /><Relationship Type="http://schemas.openxmlformats.org/officeDocument/2006/relationships/notesMaster" Target="/ppt/notesMasters/notesMaster1.xml" Id="Rddc224d091684c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31c2d5609345b2" /><Relationship Type="http://schemas.openxmlformats.org/officeDocument/2006/relationships/notesMaster" Target="/ppt/notesMasters/notesMaster1.xml" Id="Rcacae06b874e42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1cfe63de3942fb" /><Relationship Type="http://schemas.openxmlformats.org/officeDocument/2006/relationships/notesMaster" Target="/ppt/notesMasters/notesMaster1.xml" Id="R142ab82e434d40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7457b7e0c54a48" /><Relationship Type="http://schemas.openxmlformats.org/officeDocument/2006/relationships/notesMaster" Target="/ppt/notesMasters/notesMaster1.xml" Id="Re9ee1d983fe34e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69e97396074ef0" /><Relationship Type="http://schemas.openxmlformats.org/officeDocument/2006/relationships/notesMaster" Target="/ppt/notesMasters/notesMaster1.xml" Id="R2e3a60fad16748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813bcc0e9241e1" /><Relationship Type="http://schemas.openxmlformats.org/officeDocument/2006/relationships/notesMaster" Target="/ppt/notesMasters/notesMaster1.xml" Id="R2126f40288214a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e03f93fa074bb2" /><Relationship Type="http://schemas.openxmlformats.org/officeDocument/2006/relationships/notesMaster" Target="/ppt/notesMasters/notesMaster1.xml" Id="Rd20ebe9eb57041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project: không chỉ xây chatbot, mà xây một pipeline RAG có thể đo được từng thành phần. Điểm khác biệt là câu hỏi được truy hồi trên toàn thư viện thay vì được cung cấp sẵn bài báo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Hiện tại hệ thống tập trung factual QA. Mục tiêu tiếp theo là so sánh và tổng hợp đa nguồn. Cần phân biệt rõ phần hiện tại với phần agentic multi-source trong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luồng offline: article, clean, chunk, embedding, ChromaDB và BM25. Luồng online: question, retrieve top-10, rerank top-5, generate answer và citation. Evaluation nhận gold evidence và kết quả từng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Retriever và reranker dùng interface chung. Benchmark lưu retrieval, prediction và judge result riêng, nên có thể chạy lại generation mà không truy hồi lại. Lưu ý live chat hiện chưa nối đúng toàn bộ cấu hình tốt nhất của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thiết lập cũ, model đọc đúng article rồi trả lời. Trong hệ mới, câu hỏi phải tự xác định article giữa hàng nghìn distractor. Vì vậy các câu thiếu chủ ngữ, địa điểm hoặc sự kiện trở nên mơ hồ.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Từ 638 validation articles, chọn 200 bài bằng seed 42 và giữ toàn bộ 1.340 câu hỏi. Thêm 10.864 train articles làm distractor. Sau review còn 1.336 câu chấm điểm. Mọi variant dùng cùng corpus, chunker và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có 11.064 articles và 19.263 chunks. Mean tokens mỗi chunk là 383,9; maximum 504 với limit 512. Không gian retrieval vẫn lớn dù số bài cần annotation và generation đã giảm.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subject xuất hiện 688 lần, tiếp theo là underspecified event 139 và generic reference 98. Issue codes là multi-label. Ví dụ: Who is protesting? được bổ sung context về kết quả bầu cử tổng thống Gabon nhưng không tiết lộ đáp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dùng compliance, duplicate rate và self-retrieval. Retrieval dùng Hit, Recall, MRR, NDCG. Reranker dùng delta MRR và NDCG. Generation dùng EM và token F1. Citation dùng precision, recall, validity và F1. Operation báo latency, coverage và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evidence overlap C12 và C13 nên gold set là {C12, C13}. Nếu ranking top-5 là C7, C12, C4, C13, C9 thì Hit@5=1; MRR@5=1/2 vì gold đầu ở rank 2; Recall@5=2/2; NDCG khoảng 0,65 vì gold chưa ở vị trí lý tưởng. Exact ID chỉ hợp lệ khi testset và collection dùng cùng article, chunker và ID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Mọi run dùng seed 42, MiniLM 384 chiều, chunk 512 overlap 64, retrieve top-10 và rerank top-5. Cùng question IDs và corpus giúp so sánh module theo paired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Cross-encoder cải thiện cả dense, BM25 và hybrid. Dense + CE có MRR@5 64,70%; hybrid + CE 67,66%; BM25 + CE 73,69%. Kết quả cho thấy không nên chọn hybrid chỉ vì kiến trúc phức tạp hơn; cần tune fusion weight.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data effect, không phải model gain. Model, corpus và chunker không đổi; query được bổ sung context nhận diện. Kết quả chứng minh formulation của benchmark có ảnh hưởng rất lớn đến kết luận về retrieval.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run có Hit@5 76,57% và MRR@5 67,51%. Trên 760 câu generation thành công, F1 là 29,76%. Citation F1 tính toàn bộ là 38,35%; latency trung bình 2,39 giây. 576 câu lỗi kết nối API. RAGAS chưa có score hợp lệ nên không công bố.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1 retry generation và sửa judge. Tuần 2 thử chunking và embedding. Tuần 3 tune retriever, fusion và reranker. Tuần 4 so generator, citation prompt và prototype multi-source. Tuần 5 chạy final benchmark, bootstrap 95% CI và hoàn thiện demo. UI chỉ chiếm phần nhỏ nguồn lực.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14be6d926040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9ea3ba9389416a" /><Relationship Type="http://schemas.openxmlformats.org/officeDocument/2006/relationships/slideLayout" Target="/ppt/slideLayouts/slideLayout1.xml" Id="R20ec7f326fca48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ec7f326fca48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e183185cf54225" /><Relationship Type="http://schemas.openxmlformats.org/officeDocument/2006/relationships/notesSlide" Target="/ppt/notesSlides/notesSlide1.xml" Id="R1859828f71e148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7bf60cf8b54168" /><Relationship Type="http://schemas.openxmlformats.org/officeDocument/2006/relationships/notesSlide" Target="/ppt/notesSlides/notesSlide2.xml" Id="Rbb15bf58a00e45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d6bbaa135a4921" /><Relationship Type="http://schemas.openxmlformats.org/officeDocument/2006/relationships/notesSlide" Target="/ppt/notesSlides/notesSlide3.xml" Id="R6ea4040995b448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ccbcd312324b03" /><Relationship Type="http://schemas.openxmlformats.org/officeDocument/2006/relationships/notesSlide" Target="/ppt/notesSlides/notesSlide4.xml" Id="Rd522078cd02640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3fc6fbcfdf4160" /><Relationship Type="http://schemas.openxmlformats.org/officeDocument/2006/relationships/notesSlide" Target="/ppt/notesSlides/notesSlide5.xml" Id="R49955cb5291b4b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169f92eb034bbf" /><Relationship Type="http://schemas.openxmlformats.org/officeDocument/2006/relationships/notesSlide" Target="/ppt/notesSlides/notesSlide6.xml" Id="R8d4edd8455a948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4a4a22ffcb4fd3" /><Relationship Type="http://schemas.openxmlformats.org/officeDocument/2006/relationships/notesSlide" Target="/ppt/notesSlides/notesSlide7.xml" Id="R86122353937949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702acdaddc4750" /><Relationship Type="http://schemas.openxmlformats.org/officeDocument/2006/relationships/notesSlide" Target="/ppt/notesSlides/notesSlide8.xml" Id="R4805eddb0f5f4e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abfded6445491c" /><Relationship Type="http://schemas.openxmlformats.org/officeDocument/2006/relationships/notesSlide" Target="/ppt/notesSlides/notesSlide9.xml" Id="Rc6165603c4d94a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86c9b7664d43d2" /><Relationship Type="http://schemas.openxmlformats.org/officeDocument/2006/relationships/notesSlide" Target="/ppt/notesSlides/notesSlide10.xml" Id="Rf4065e9e27c74f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dcd934867e4578" /><Relationship Type="http://schemas.openxmlformats.org/officeDocument/2006/relationships/notesSlide" Target="/ppt/notesSlides/notesSlide11.xml" Id="R18a4ad1e170b47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ce867420074d9c" /><Relationship Type="http://schemas.openxmlformats.org/officeDocument/2006/relationships/notesSlide" Target="/ppt/notesSlides/notesSlide12.xml" Id="R029754f1ad564f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f56b3a113244c5" /><Relationship Type="http://schemas.openxmlformats.org/officeDocument/2006/relationships/notesSlide" Target="/ppt/notesSlides/notesSlide13.xml" Id="R422f89586b1445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74f6057ce84e23" /><Relationship Type="http://schemas.openxmlformats.org/officeDocument/2006/relationships/notesSlide" Target="/ppt/notesSlides/notesSlide14.xml" Id="R29e4f32f63644b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13b888df9f4f3c" /><Relationship Type="http://schemas.openxmlformats.org/officeDocument/2006/relationships/notesSlide" Target="/ppt/notesSlides/notesSlide15.xml" Id="R1708663139d549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1">
            <a:extLst xmlns:a="http://schemas.openxmlformats.org/drawingml/2006/main">
              <a:ext uri="{FF2B5EF4-FFF2-40B4-BE49-F238E27FC236}">
                <a16:creationId xmlns:a16="http://schemas.microsoft.com/office/drawing/2014/main" id="{E901E6F2-18CC-48F7-A1FB-703E1730D7E6}"/>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01</a:t>
            </a:r>
          </a:p>
        </p:txBody>
      </p:sp>
      <p:sp>
        <p:nvSpPr>
          <p:cNvPr id="2" name="title-1">
            <a:extLst xmlns:a="http://schemas.openxmlformats.org/drawingml/2006/main">
              <a:ext uri="{FF2B5EF4-FFF2-40B4-BE49-F238E27FC236}">
                <a16:creationId xmlns:a16="http://schemas.microsoft.com/office/drawing/2014/main" id="{B06A8286-C982-415C-BC2C-412F01CEF13D}"/>
              </a:ext>
            </a:extLst>
          </p:cNvPr>
          <p:cNvSpPr>
            <a:spLocks xmlns:a="http://schemas.openxmlformats.org/drawingml/2006/main" noGrp="1"/>
          </p:cNvSpPr>
          <p:nvPr/>
        </p:nvSpPr>
        <p:spPr>
          <a:xfrm xmlns:a="http://schemas.openxmlformats.org/drawingml/2006/main">
            <a:off x="609600" y="112395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172033"/>
                </a:solidFill>
                <a:latin typeface="Arial"/>
                <a:ea typeface="Arial"/>
                <a:cs typeface="Arial"/>
              </a:defRPr>
            </a:pPr>
            <a:r>
              <a:rPr sz="4350" b="1">
                <a:solidFill>
                  <a:srgbClr val="172033"/>
                </a:solidFill>
                <a:latin typeface="Arial"/>
                <a:ea typeface="Arial"/>
                <a:cs typeface="Arial"/>
              </a:rPr>
              <a:t>Xây dựng và đánh giá NewsQA-RAG</a:t>
            </a:r>
          </a:p>
        </p:txBody>
      </p:sp>
      <p:sp>
        <p:nvSpPr>
          <p:cNvPr id="3" name="subtitle-1">
            <a:extLst xmlns:a="http://schemas.openxmlformats.org/drawingml/2006/main">
              <a:ext uri="{FF2B5EF4-FFF2-40B4-BE49-F238E27FC236}">
                <a16:creationId xmlns:a16="http://schemas.microsoft.com/office/drawing/2014/main" id="{13DC977C-1D61-4FF9-B405-20211866A368}"/>
              </a:ext>
            </a:extLst>
          </p:cNvPr>
          <p:cNvSpPr>
            <a:spLocks xmlns:a="http://schemas.openxmlformats.org/drawingml/2006/main" noGrp="1"/>
          </p:cNvSpPr>
          <p:nvPr/>
        </p:nvSpPr>
        <p:spPr>
          <a:xfrm xmlns:a="http://schemas.openxmlformats.org/drawingml/2006/main">
            <a:off x="609600" y="27241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536173"/>
                </a:solidFill>
                <a:latin typeface="Arial"/>
                <a:ea typeface="Arial"/>
                <a:cs typeface="Arial"/>
              </a:defRPr>
            </a:pPr>
            <a:r>
              <a:rPr sz="1950">
                <a:solidFill>
                  <a:srgbClr val="536173"/>
                </a:solidFill>
                <a:latin typeface="Arial"/>
                <a:ea typeface="Arial"/>
                <a:cs typeface="Arial"/>
              </a:rPr>
              <a:t>Hỏi đáp có dẫn nguồn trên một thư viện gồm nhiều bài báo.</a:t>
            </a:r>
          </a:p>
        </p:txBody>
      </p:sp>
      <p:sp>
        <p:nvSpPr>
          <p:cNvPr id="4" name="image-placeholder-0">
            <a:extLst xmlns:a="http://schemas.openxmlformats.org/drawingml/2006/main">
              <a:ext uri="{FF2B5EF4-FFF2-40B4-BE49-F238E27FC236}">
                <a16:creationId xmlns:a16="http://schemas.microsoft.com/office/drawing/2014/main" id="{30712619-B1FE-45BA-94D0-8CF3959221D3}"/>
              </a:ext>
            </a:extLst>
          </p:cNvPr>
          <p:cNvSpPr>
            <a:spLocks xmlns:a="http://schemas.openxmlformats.org/drawingml/2006/main" noGrp="1"/>
          </p:cNvSpPr>
          <p:nvPr/>
        </p:nvSpPr>
        <p:spPr>
          <a:xfrm xmlns:a="http://schemas.openxmlformats.org/drawingml/2006/main">
            <a:off x="609600" y="36576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ẢNH BÌA: thư viện tin tức hoặc giao diện hệ thống</a:t>
            </a:r>
          </a:p>
        </p:txBody>
      </p:sp>
      <p:sp>
        <p:nvSpPr>
          <p:cNvPr id="5" name="footer-1">
            <a:extLst xmlns:a="http://schemas.openxmlformats.org/drawingml/2006/main">
              <a:ext uri="{FF2B5EF4-FFF2-40B4-BE49-F238E27FC236}">
                <a16:creationId xmlns:a16="http://schemas.microsoft.com/office/drawing/2014/main" id="{E7F6E942-95D3-4D55-9A40-1E36FCFCFE98}"/>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1/15</a:t>
            </a:r>
          </a:p>
        </p:txBody>
      </p:sp>
    </p:spTree>
    <p:extLst>
      <p:ext uri="{BB962C8B-B14F-4D97-AF65-F5344CB8AC3E}">
        <p14:creationId xmlns:p14="http://schemas.microsoft.com/office/powerpoint/2010/main" val="3352637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2">
            <a:extLst xmlns:a="http://schemas.openxmlformats.org/drawingml/2006/main">
              <a:ext uri="{FF2B5EF4-FFF2-40B4-BE49-F238E27FC236}">
                <a16:creationId xmlns:a16="http://schemas.microsoft.com/office/drawing/2014/main" id="{DB5C801E-308F-4AE9-BFF5-F0FF2D2569BE}"/>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02</a:t>
            </a:r>
          </a:p>
        </p:txBody>
      </p:sp>
      <p:sp>
        <p:nvSpPr>
          <p:cNvPr id="2" name="title-2">
            <a:extLst xmlns:a="http://schemas.openxmlformats.org/drawingml/2006/main">
              <a:ext uri="{FF2B5EF4-FFF2-40B4-BE49-F238E27FC236}">
                <a16:creationId xmlns:a16="http://schemas.microsoft.com/office/drawing/2014/main" id="{90B5981D-B144-468B-B136-48D888F796F6}"/>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Bài toán yêu cầu tìm bằng chứng trên toàn thư viện</a:t>
            </a:r>
          </a:p>
        </p:txBody>
      </p:sp>
      <p:sp>
        <p:nvSpPr>
          <p:cNvPr id="3" name="subtitle-2">
            <a:extLst xmlns:a="http://schemas.openxmlformats.org/drawingml/2006/main">
              <a:ext uri="{FF2B5EF4-FFF2-40B4-BE49-F238E27FC236}">
                <a16:creationId xmlns:a16="http://schemas.microsoft.com/office/drawing/2014/main" id="{CAB0B043-08FE-437A-B200-9B0D1F3BDD1F}"/>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Input là câu hỏi tự nhiên và kho bài báo; output là câu trả lời ngắn kèm citation.</a:t>
            </a:r>
          </a:p>
        </p:txBody>
      </p:sp>
      <p:sp>
        <p:nvSpPr>
          <p:cNvPr id="4" name="image-placeholder-0">
            <a:extLst xmlns:a="http://schemas.openxmlformats.org/drawingml/2006/main">
              <a:ext uri="{FF2B5EF4-FFF2-40B4-BE49-F238E27FC236}">
                <a16:creationId xmlns:a16="http://schemas.microsoft.com/office/drawing/2014/main" id="{1FDBD352-3EA3-46B3-898F-6F8FB66B4393}"/>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1: câu hỏi → thư viện báo</a:t>
            </a:r>
          </a:p>
        </p:txBody>
      </p:sp>
      <p:sp>
        <p:nvSpPr>
          <p:cNvPr id="5" name="image-placeholder-1">
            <a:extLst xmlns:a="http://schemas.openxmlformats.org/drawingml/2006/main">
              <a:ext uri="{FF2B5EF4-FFF2-40B4-BE49-F238E27FC236}">
                <a16:creationId xmlns:a16="http://schemas.microsoft.com/office/drawing/2014/main" id="{3543A59F-62C5-40F7-A579-C3230730FBCA}"/>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câu trả lời có citation</a:t>
            </a:r>
          </a:p>
        </p:txBody>
      </p:sp>
      <p:sp>
        <p:nvSpPr>
          <p:cNvPr id="6" name="footer-2">
            <a:extLst xmlns:a="http://schemas.openxmlformats.org/drawingml/2006/main">
              <a:ext uri="{FF2B5EF4-FFF2-40B4-BE49-F238E27FC236}">
                <a16:creationId xmlns:a16="http://schemas.microsoft.com/office/drawing/2014/main" id="{3AC308BC-9051-4483-A484-C23661E56D3C}"/>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2/15</a:t>
            </a:r>
          </a:p>
        </p:txBody>
      </p:sp>
    </p:spTree>
    <p:extLst>
      <p:ext uri="{BB962C8B-B14F-4D97-AF65-F5344CB8AC3E}">
        <p14:creationId xmlns:p14="http://schemas.microsoft.com/office/powerpoint/2010/main" val="15360783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3">
            <a:extLst xmlns:a="http://schemas.openxmlformats.org/drawingml/2006/main">
              <a:ext uri="{FF2B5EF4-FFF2-40B4-BE49-F238E27FC236}">
                <a16:creationId xmlns:a16="http://schemas.microsoft.com/office/drawing/2014/main" id="{4488CC0A-E9E5-434B-9AE7-C8BAA5317206}"/>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03</a:t>
            </a:r>
          </a:p>
        </p:txBody>
      </p:sp>
      <p:sp>
        <p:nvSpPr>
          <p:cNvPr id="2" name="title-3">
            <a:extLst xmlns:a="http://schemas.openxmlformats.org/drawingml/2006/main">
              <a:ext uri="{FF2B5EF4-FFF2-40B4-BE49-F238E27FC236}">
                <a16:creationId xmlns:a16="http://schemas.microsoft.com/office/drawing/2014/main" id="{1A6331B8-5912-4325-A056-6016923042FB}"/>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Pipeline được tách thành các module có I/O rõ ràng</a:t>
            </a:r>
          </a:p>
        </p:txBody>
      </p:sp>
      <p:sp>
        <p:nvSpPr>
          <p:cNvPr id="3" name="subtitle-3">
            <a:extLst xmlns:a="http://schemas.openxmlformats.org/drawingml/2006/main">
              <a:ext uri="{FF2B5EF4-FFF2-40B4-BE49-F238E27FC236}">
                <a16:creationId xmlns:a16="http://schemas.microsoft.com/office/drawing/2014/main" id="{7D2E3800-D5CD-42E2-A8B4-A21C3236505F}"/>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Ingestion, indexing, retrieval, reranking, generation và evaluation có thể kiểm tra độc lập.</a:t>
            </a:r>
          </a:p>
        </p:txBody>
      </p:sp>
      <p:sp>
        <p:nvSpPr>
          <p:cNvPr id="4" name="image-placeholder-0">
            <a:extLst xmlns:a="http://schemas.openxmlformats.org/drawingml/2006/main">
              <a:ext uri="{FF2B5EF4-FFF2-40B4-BE49-F238E27FC236}">
                <a16:creationId xmlns:a16="http://schemas.microsoft.com/office/drawing/2014/main" id="{B2902F4C-8FA1-408A-866F-3BCA8632ECAF}"/>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SƠ ĐỒ: architecture pipeline end-to-end</a:t>
            </a:r>
          </a:p>
        </p:txBody>
      </p:sp>
      <p:sp>
        <p:nvSpPr>
          <p:cNvPr id="5" name="footer-3">
            <a:extLst xmlns:a="http://schemas.openxmlformats.org/drawingml/2006/main">
              <a:ext uri="{FF2B5EF4-FFF2-40B4-BE49-F238E27FC236}">
                <a16:creationId xmlns:a16="http://schemas.microsoft.com/office/drawing/2014/main" id="{6FE7F003-E0F4-4241-A3B3-559505105090}"/>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3/15</a:t>
            </a:r>
          </a:p>
        </p:txBody>
      </p:sp>
    </p:spTree>
    <p:extLst>
      <p:ext uri="{BB962C8B-B14F-4D97-AF65-F5344CB8AC3E}">
        <p14:creationId xmlns:p14="http://schemas.microsoft.com/office/powerpoint/2010/main" val="2162246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4">
            <a:extLst xmlns:a="http://schemas.openxmlformats.org/drawingml/2006/main">
              <a:ext uri="{FF2B5EF4-FFF2-40B4-BE49-F238E27FC236}">
                <a16:creationId xmlns:a16="http://schemas.microsoft.com/office/drawing/2014/main" id="{023876D7-2A2C-4068-8C9A-0FA8AE9D96D0}"/>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04</a:t>
            </a:r>
          </a:p>
        </p:txBody>
      </p:sp>
      <p:sp>
        <p:nvSpPr>
          <p:cNvPr id="2" name="title-4">
            <a:extLst xmlns:a="http://schemas.openxmlformats.org/drawingml/2006/main">
              <a:ext uri="{FF2B5EF4-FFF2-40B4-BE49-F238E27FC236}">
                <a16:creationId xmlns:a16="http://schemas.microsoft.com/office/drawing/2014/main" id="{CBE77D87-A7E3-47A3-910C-9A9F854F9628}"/>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Kiến trúc cho phép thay từng model mà không đổi pipeline</a:t>
            </a:r>
          </a:p>
        </p:txBody>
      </p:sp>
      <p:sp>
        <p:nvSpPr>
          <p:cNvPr id="3" name="subtitle-4">
            <a:extLst xmlns:a="http://schemas.openxmlformats.org/drawingml/2006/main">
              <a:ext uri="{FF2B5EF4-FFF2-40B4-BE49-F238E27FC236}">
                <a16:creationId xmlns:a16="http://schemas.microsoft.com/office/drawing/2014/main" id="{4A4E41C2-0D6B-49DE-8940-29C3DF3F865E}"/>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Embedding, retriever, reranker, generator và judge đều là các điểm có thể hoán đổi.</a:t>
            </a:r>
          </a:p>
        </p:txBody>
      </p:sp>
      <p:sp>
        <p:nvSpPr>
          <p:cNvPr id="4" name="image-placeholder-0">
            <a:extLst xmlns:a="http://schemas.openxmlformats.org/drawingml/2006/main">
              <a:ext uri="{FF2B5EF4-FFF2-40B4-BE49-F238E27FC236}">
                <a16:creationId xmlns:a16="http://schemas.microsoft.com/office/drawing/2014/main" id="{7CE2ED82-9A92-404A-BE48-AB7A9FBF06DD}"/>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1: các module có thể thay thế</a:t>
            </a:r>
          </a:p>
        </p:txBody>
      </p:sp>
      <p:sp>
        <p:nvSpPr>
          <p:cNvPr id="5" name="image-placeholder-1">
            <a:extLst xmlns:a="http://schemas.openxmlformats.org/drawingml/2006/main">
              <a:ext uri="{FF2B5EF4-FFF2-40B4-BE49-F238E27FC236}">
                <a16:creationId xmlns:a16="http://schemas.microsoft.com/office/drawing/2014/main" id="{B3D902B6-7ACB-4987-BC15-E1409D13A993}"/>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checkpoint theo từng stage</a:t>
            </a:r>
          </a:p>
        </p:txBody>
      </p:sp>
      <p:sp>
        <p:nvSpPr>
          <p:cNvPr id="6" name="footer-4">
            <a:extLst xmlns:a="http://schemas.openxmlformats.org/drawingml/2006/main">
              <a:ext uri="{FF2B5EF4-FFF2-40B4-BE49-F238E27FC236}">
                <a16:creationId xmlns:a16="http://schemas.microsoft.com/office/drawing/2014/main" id="{1BA87D46-F6EF-4FA4-94F1-2594797BFDF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4/15</a:t>
            </a:r>
          </a:p>
        </p:txBody>
      </p:sp>
    </p:spTree>
    <p:extLst>
      <p:ext uri="{BB962C8B-B14F-4D97-AF65-F5344CB8AC3E}">
        <p14:creationId xmlns:p14="http://schemas.microsoft.com/office/powerpoint/2010/main" val="551110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5">
            <a:extLst xmlns:a="http://schemas.openxmlformats.org/drawingml/2006/main">
              <a:ext uri="{FF2B5EF4-FFF2-40B4-BE49-F238E27FC236}">
                <a16:creationId xmlns:a16="http://schemas.microsoft.com/office/drawing/2014/main" id="{D9DF37D4-0504-4E92-B5B4-F9BAD85A7CA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05</a:t>
            </a:r>
          </a:p>
        </p:txBody>
      </p:sp>
      <p:sp>
        <p:nvSpPr>
          <p:cNvPr id="2" name="title-5">
            <a:extLst xmlns:a="http://schemas.openxmlformats.org/drawingml/2006/main">
              <a:ext uri="{FF2B5EF4-FFF2-40B4-BE49-F238E27FC236}">
                <a16:creationId xmlns:a16="http://schemas.microsoft.com/office/drawing/2014/main" id="{3A59AE36-6D08-43B6-A68C-D506D16662FF}"/>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NewsQA gốc chưa phản ánh bài toán retrieval toàn thư viện</a:t>
            </a:r>
          </a:p>
        </p:txBody>
      </p:sp>
      <p:sp>
        <p:nvSpPr>
          <p:cNvPr id="3" name="subtitle-5">
            <a:extLst xmlns:a="http://schemas.openxmlformats.org/drawingml/2006/main">
              <a:ext uri="{FF2B5EF4-FFF2-40B4-BE49-F238E27FC236}">
                <a16:creationId xmlns:a16="http://schemas.microsoft.com/office/drawing/2014/main" id="{CB7DE545-1F54-4CE7-8889-803008A97604}"/>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Các câu như “Who is protesting?” chỉ rõ nghĩa khi đã biết bài báo nguồn.</a:t>
            </a:r>
          </a:p>
        </p:txBody>
      </p:sp>
      <p:sp>
        <p:nvSpPr>
          <p:cNvPr id="4" name="image-placeholder-0">
            <a:extLst xmlns:a="http://schemas.openxmlformats.org/drawingml/2006/main">
              <a:ext uri="{FF2B5EF4-FFF2-40B4-BE49-F238E27FC236}">
                <a16:creationId xmlns:a16="http://schemas.microsoft.com/office/drawing/2014/main" id="{5768AFCA-8647-4691-8EA8-3517F8A6AF19}"/>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1: NewsQA trong một bài</a:t>
            </a:r>
          </a:p>
        </p:txBody>
      </p:sp>
      <p:sp>
        <p:nvSpPr>
          <p:cNvPr id="5" name="image-placeholder-1">
            <a:extLst xmlns:a="http://schemas.openxmlformats.org/drawingml/2006/main">
              <a:ext uri="{FF2B5EF4-FFF2-40B4-BE49-F238E27FC236}">
                <a16:creationId xmlns:a16="http://schemas.microsoft.com/office/drawing/2014/main" id="{1CB3285D-B525-4ED2-92BF-F8207FD3847A}"/>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cùng câu hỏi trước 11.064 bài</a:t>
            </a:r>
          </a:p>
        </p:txBody>
      </p:sp>
      <p:sp>
        <p:nvSpPr>
          <p:cNvPr id="6" name="footer-5">
            <a:extLst xmlns:a="http://schemas.openxmlformats.org/drawingml/2006/main">
              <a:ext uri="{FF2B5EF4-FFF2-40B4-BE49-F238E27FC236}">
                <a16:creationId xmlns:a16="http://schemas.microsoft.com/office/drawing/2014/main" id="{9B60FEC3-ED77-42DD-B22D-5BCA29D91EE6}"/>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5/15</a:t>
            </a:r>
          </a:p>
        </p:txBody>
      </p:sp>
    </p:spTree>
    <p:extLst>
      <p:ext uri="{BB962C8B-B14F-4D97-AF65-F5344CB8AC3E}">
        <p14:creationId xmlns:p14="http://schemas.microsoft.com/office/powerpoint/2010/main" val="2796601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6">
            <a:extLst xmlns:a="http://schemas.openxmlformats.org/drawingml/2006/main">
              <a:ext uri="{FF2B5EF4-FFF2-40B4-BE49-F238E27FC236}">
                <a16:creationId xmlns:a16="http://schemas.microsoft.com/office/drawing/2014/main" id="{9D0F8FE5-9732-4BE4-8A58-46716565E2F0}"/>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06</a:t>
            </a:r>
          </a:p>
        </p:txBody>
      </p:sp>
      <p:sp>
        <p:nvSpPr>
          <p:cNvPr id="2" name="title-6">
            <a:extLst xmlns:a="http://schemas.openxmlformats.org/drawingml/2006/main">
              <a:ext uri="{FF2B5EF4-FFF2-40B4-BE49-F238E27FC236}">
                <a16:creationId xmlns:a16="http://schemas.microsoft.com/office/drawing/2014/main" id="{00BB741E-C60F-433E-8975-02385E63E9C9}"/>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Benchmark mới giữ retrieval khó nhưng giảm chi phí đánh giá</a:t>
            </a:r>
          </a:p>
        </p:txBody>
      </p:sp>
      <p:sp>
        <p:nvSpPr>
          <p:cNvPr id="3" name="subtitle-6">
            <a:extLst xmlns:a="http://schemas.openxmlformats.org/drawingml/2006/main">
              <a:ext uri="{FF2B5EF4-FFF2-40B4-BE49-F238E27FC236}">
                <a16:creationId xmlns:a16="http://schemas.microsoft.com/office/drawing/2014/main" id="{2D306986-998A-4D72-A299-33AC40551770}"/>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200 bài evaluation được đặt trong corpus 11.064 bài, tạo thành 19.263 chunks.</a:t>
            </a:r>
          </a:p>
        </p:txBody>
      </p:sp>
      <p:sp>
        <p:nvSpPr>
          <p:cNvPr id="4" name="image-placeholder-0">
            <a:extLst xmlns:a="http://schemas.openxmlformats.org/drawingml/2006/main">
              <a:ext uri="{FF2B5EF4-FFF2-40B4-BE49-F238E27FC236}">
                <a16:creationId xmlns:a16="http://schemas.microsoft.com/office/drawing/2014/main" id="{99B160A6-4DA0-4AE1-B553-D1E79508312F}"/>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quy trình chọn 200 bài + 10.864 distractors</a:t>
            </a:r>
          </a:p>
        </p:txBody>
      </p:sp>
      <p:sp>
        <p:nvSpPr>
          <p:cNvPr id="5" name="footer-6">
            <a:extLst xmlns:a="http://schemas.openxmlformats.org/drawingml/2006/main">
              <a:ext uri="{FF2B5EF4-FFF2-40B4-BE49-F238E27FC236}">
                <a16:creationId xmlns:a16="http://schemas.microsoft.com/office/drawing/2014/main" id="{2264FC2C-7BD9-4066-95F1-2D29648C288B}"/>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6/15</a:t>
            </a:r>
          </a:p>
        </p:txBody>
      </p:sp>
    </p:spTree>
    <p:extLst>
      <p:ext uri="{BB962C8B-B14F-4D97-AF65-F5344CB8AC3E}">
        <p14:creationId xmlns:p14="http://schemas.microsoft.com/office/powerpoint/2010/main" val="87450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7">
            <a:extLst xmlns:a="http://schemas.openxmlformats.org/drawingml/2006/main">
              <a:ext uri="{FF2B5EF4-FFF2-40B4-BE49-F238E27FC236}">
                <a16:creationId xmlns:a16="http://schemas.microsoft.com/office/drawing/2014/main" id="{9F97FB1B-D8C6-4BB7-828F-40BF07EF9A17}"/>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07</a:t>
            </a:r>
          </a:p>
        </p:txBody>
      </p:sp>
      <p:sp>
        <p:nvSpPr>
          <p:cNvPr id="2" name="title-7">
            <a:extLst xmlns:a="http://schemas.openxmlformats.org/drawingml/2006/main">
              <a:ext uri="{FF2B5EF4-FFF2-40B4-BE49-F238E27FC236}">
                <a16:creationId xmlns:a16="http://schemas.microsoft.com/office/drawing/2014/main" id="{68939F8F-ABC1-4377-BB0B-D5211B953F6B}"/>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Chỉ 1,8% corpus chứa câu hỏi đánh giá</a:t>
            </a:r>
          </a:p>
        </p:txBody>
      </p:sp>
      <p:sp>
        <p:nvSpPr>
          <p:cNvPr id="3" name="subtitle-7">
            <a:extLst xmlns:a="http://schemas.openxmlformats.org/drawingml/2006/main">
              <a:ext uri="{FF2B5EF4-FFF2-40B4-BE49-F238E27FC236}">
                <a16:creationId xmlns:a16="http://schemas.microsoft.com/office/drawing/2014/main" id="{48E11303-FD60-4BCB-8FBF-B1E6560B4EDA}"/>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200 bài evaluation nằm giữa 10.864 bài distractor; trung bình mỗi bài tạo 1,74 chunks.</a:t>
            </a:r>
          </a:p>
        </p:txBody>
      </p:sp>
      <p:sp>
        <p:nvSpPr>
          <p:cNvPr id="4" name="image-placeholder-0">
            <a:extLst xmlns:a="http://schemas.openxmlformats.org/drawingml/2006/main">
              <a:ext uri="{FF2B5EF4-FFF2-40B4-BE49-F238E27FC236}">
                <a16:creationId xmlns:a16="http://schemas.microsoft.com/office/drawing/2014/main" id="{FAEA1490-30E1-4970-B645-D905DC1A1CDD}"/>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1: 200 evaluation vs 10.864 distractors</a:t>
            </a:r>
          </a:p>
        </p:txBody>
      </p:sp>
      <p:sp>
        <p:nvSpPr>
          <p:cNvPr id="5" name="image-placeholder-1">
            <a:extLst xmlns:a="http://schemas.openxmlformats.org/drawingml/2006/main">
              <a:ext uri="{FF2B5EF4-FFF2-40B4-BE49-F238E27FC236}">
                <a16:creationId xmlns:a16="http://schemas.microsoft.com/office/drawing/2014/main" id="{9947C2E3-4F67-4F08-A50B-8085EE61F659}"/>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2: phân phối tokens/chunk</a:t>
            </a:r>
          </a:p>
        </p:txBody>
      </p:sp>
      <p:sp>
        <p:nvSpPr>
          <p:cNvPr id="6" name="footer-7">
            <a:extLst xmlns:a="http://schemas.openxmlformats.org/drawingml/2006/main">
              <a:ext uri="{FF2B5EF4-FFF2-40B4-BE49-F238E27FC236}">
                <a16:creationId xmlns:a16="http://schemas.microsoft.com/office/drawing/2014/main" id="{78E7EF61-322A-4C11-9C14-A009C3BCBB0B}"/>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7/15</a:t>
            </a:r>
          </a:p>
        </p:txBody>
      </p:sp>
    </p:spTree>
    <p:extLst>
      <p:ext uri="{BB962C8B-B14F-4D97-AF65-F5344CB8AC3E}">
        <p14:creationId xmlns:p14="http://schemas.microsoft.com/office/powerpoint/2010/main" val="266370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8">
            <a:extLst xmlns:a="http://schemas.openxmlformats.org/drawingml/2006/main">
              <a:ext uri="{FF2B5EF4-FFF2-40B4-BE49-F238E27FC236}">
                <a16:creationId xmlns:a16="http://schemas.microsoft.com/office/drawing/2014/main" id="{667EC033-5EF2-439E-A8D5-D3F1DAFAF103}"/>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08</a:t>
            </a:r>
          </a:p>
        </p:txBody>
      </p:sp>
      <p:sp>
        <p:nvSpPr>
          <p:cNvPr id="2" name="title-8">
            <a:extLst xmlns:a="http://schemas.openxmlformats.org/drawingml/2006/main">
              <a:ext uri="{FF2B5EF4-FFF2-40B4-BE49-F238E27FC236}">
                <a16:creationId xmlns:a16="http://schemas.microsoft.com/office/drawing/2014/main" id="{A330C8AD-59B3-4BA5-B49A-381378A13B99}"/>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Thiếu ngữ cảnh là vấn đề dữ liệu phổ biến nhất</a:t>
            </a:r>
          </a:p>
        </p:txBody>
      </p:sp>
      <p:sp>
        <p:nvSpPr>
          <p:cNvPr id="3" name="subtitle-8">
            <a:extLst xmlns:a="http://schemas.openxmlformats.org/drawingml/2006/main">
              <a:ext uri="{FF2B5EF4-FFF2-40B4-BE49-F238E27FC236}">
                <a16:creationId xmlns:a16="http://schemas.microsoft.com/office/drawing/2014/main" id="{99DD90CB-2544-4911-AC2F-CC01C9D1F459}"/>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1.078 câu được làm rõ, 298 đáp án được sửa và 4 câu bị loại.</a:t>
            </a:r>
          </a:p>
        </p:txBody>
      </p:sp>
      <p:sp>
        <p:nvSpPr>
          <p:cNvPr id="4" name="image-placeholder-0">
            <a:extLst xmlns:a="http://schemas.openxmlformats.org/drawingml/2006/main">
              <a:ext uri="{FF2B5EF4-FFF2-40B4-BE49-F238E27FC236}">
                <a16:creationId xmlns:a16="http://schemas.microsoft.com/office/drawing/2014/main" id="{78272CAD-9A9A-478A-B7B2-D4C71C09325C}"/>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1: issue codes</a:t>
            </a:r>
          </a:p>
        </p:txBody>
      </p:sp>
      <p:sp>
        <p:nvSpPr>
          <p:cNvPr id="5" name="image-placeholder-1">
            <a:extLst xmlns:a="http://schemas.openxmlformats.org/drawingml/2006/main">
              <a:ext uri="{FF2B5EF4-FFF2-40B4-BE49-F238E27FC236}">
                <a16:creationId xmlns:a16="http://schemas.microsoft.com/office/drawing/2014/main" id="{56C4C399-C81A-4D33-A3B8-B73BAF65BAE9}"/>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ví dụ original → resolved</a:t>
            </a:r>
          </a:p>
        </p:txBody>
      </p:sp>
      <p:sp>
        <p:nvSpPr>
          <p:cNvPr id="6" name="footer-8">
            <a:extLst xmlns:a="http://schemas.openxmlformats.org/drawingml/2006/main">
              <a:ext uri="{FF2B5EF4-FFF2-40B4-BE49-F238E27FC236}">
                <a16:creationId xmlns:a16="http://schemas.microsoft.com/office/drawing/2014/main" id="{2CCB00EA-CC40-41E0-8DFD-63E3C46E1A2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8/15</a:t>
            </a:r>
          </a:p>
        </p:txBody>
      </p:sp>
    </p:spTree>
    <p:extLst>
      <p:ext uri="{BB962C8B-B14F-4D97-AF65-F5344CB8AC3E}">
        <p14:creationId xmlns:p14="http://schemas.microsoft.com/office/powerpoint/2010/main" val="1296358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9">
            <a:extLst xmlns:a="http://schemas.openxmlformats.org/drawingml/2006/main">
              <a:ext uri="{FF2B5EF4-FFF2-40B4-BE49-F238E27FC236}">
                <a16:creationId xmlns:a16="http://schemas.microsoft.com/office/drawing/2014/main" id="{4CAFDA7C-D37A-4239-B73E-0B0AD3959E62}"/>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09</a:t>
            </a:r>
          </a:p>
        </p:txBody>
      </p:sp>
      <p:sp>
        <p:nvSpPr>
          <p:cNvPr id="2" name="title-9">
            <a:extLst xmlns:a="http://schemas.openxmlformats.org/drawingml/2006/main">
              <a:ext uri="{FF2B5EF4-FFF2-40B4-BE49-F238E27FC236}">
                <a16:creationId xmlns:a16="http://schemas.microsoft.com/office/drawing/2014/main" id="{41AAA136-414C-45F5-868E-FD6555447283}"/>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Evaluation phải xác định lỗi nằm ở module nào</a:t>
            </a:r>
          </a:p>
        </p:txBody>
      </p:sp>
      <p:sp>
        <p:nvSpPr>
          <p:cNvPr id="3" name="subtitle-9">
            <a:extLst xmlns:a="http://schemas.openxmlformats.org/drawingml/2006/main">
              <a:ext uri="{FF2B5EF4-FFF2-40B4-BE49-F238E27FC236}">
                <a16:creationId xmlns:a16="http://schemas.microsoft.com/office/drawing/2014/main" id="{DDEA3F84-17E0-4D12-9C40-FB61B1EB3CA0}"/>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Corpus, retrieval, reranking, generation, citation và vận hành được đo riêng.</a:t>
            </a:r>
          </a:p>
        </p:txBody>
      </p:sp>
      <p:sp>
        <p:nvSpPr>
          <p:cNvPr id="4" name="image-placeholder-0">
            <a:extLst xmlns:a="http://schemas.openxmlformats.org/drawingml/2006/main">
              <a:ext uri="{FF2B5EF4-FFF2-40B4-BE49-F238E27FC236}">
                <a16:creationId xmlns:a16="http://schemas.microsoft.com/office/drawing/2014/main" id="{3580DC9E-5B90-479C-8C7E-7DE4380DFD9B}"/>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các tầng evaluation và metric tương ứng</a:t>
            </a:r>
          </a:p>
        </p:txBody>
      </p:sp>
      <p:sp>
        <p:nvSpPr>
          <p:cNvPr id="5" name="footer-9">
            <a:extLst xmlns:a="http://schemas.openxmlformats.org/drawingml/2006/main">
              <a:ext uri="{FF2B5EF4-FFF2-40B4-BE49-F238E27FC236}">
                <a16:creationId xmlns:a16="http://schemas.microsoft.com/office/drawing/2014/main" id="{59B3C46D-3C68-401D-9F92-1D8BAAE37A69}"/>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9/15</a:t>
            </a:r>
          </a:p>
        </p:txBody>
      </p:sp>
    </p:spTree>
    <p:extLst>
      <p:ext uri="{BB962C8B-B14F-4D97-AF65-F5344CB8AC3E}">
        <p14:creationId xmlns:p14="http://schemas.microsoft.com/office/powerpoint/2010/main" val="13435498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10">
            <a:extLst xmlns:a="http://schemas.openxmlformats.org/drawingml/2006/main">
              <a:ext uri="{FF2B5EF4-FFF2-40B4-BE49-F238E27FC236}">
                <a16:creationId xmlns:a16="http://schemas.microsoft.com/office/drawing/2014/main" id="{E14ED93D-5137-4794-A8E4-3090FCEE9209}"/>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10</a:t>
            </a:r>
          </a:p>
        </p:txBody>
      </p:sp>
      <p:sp>
        <p:nvSpPr>
          <p:cNvPr id="2" name="title-10">
            <a:extLst xmlns:a="http://schemas.openxmlformats.org/drawingml/2006/main">
              <a:ext uri="{FF2B5EF4-FFF2-40B4-BE49-F238E27FC236}">
                <a16:creationId xmlns:a16="http://schemas.microsoft.com/office/drawing/2014/main" id="{A6DE39FE-067F-434A-BB4F-8D41C85323FE}"/>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Retrieval được chấm bằng exact chunk-ID match</a:t>
            </a:r>
          </a:p>
        </p:txBody>
      </p:sp>
      <p:sp>
        <p:nvSpPr>
          <p:cNvPr id="3" name="subtitle-10">
            <a:extLst xmlns:a="http://schemas.openxmlformats.org/drawingml/2006/main">
              <a:ext uri="{FF2B5EF4-FFF2-40B4-BE49-F238E27FC236}">
                <a16:creationId xmlns:a16="http://schemas.microsoft.com/office/drawing/2014/main" id="{2CAD699D-E7A2-4001-974B-6815F0B8823A}"/>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Evidence span được map thành gold chunk IDs rồi so với thứ hạng top-k trả về.</a:t>
            </a:r>
          </a:p>
        </p:txBody>
      </p:sp>
      <p:sp>
        <p:nvSpPr>
          <p:cNvPr id="4" name="image-placeholder-0">
            <a:extLst xmlns:a="http://schemas.openxmlformats.org/drawingml/2006/main">
              <a:ext uri="{FF2B5EF4-FFF2-40B4-BE49-F238E27FC236}">
                <a16:creationId xmlns:a16="http://schemas.microsoft.com/office/drawing/2014/main" id="{09B815D6-CEE3-4088-8A6D-4135C92E3AC1}"/>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1: evidence span giao với chunk ranges</a:t>
            </a:r>
          </a:p>
        </p:txBody>
      </p:sp>
      <p:sp>
        <p:nvSpPr>
          <p:cNvPr id="5" name="image-placeholder-1">
            <a:extLst xmlns:a="http://schemas.openxmlformats.org/drawingml/2006/main">
              <a:ext uri="{FF2B5EF4-FFF2-40B4-BE49-F238E27FC236}">
                <a16:creationId xmlns:a16="http://schemas.microsoft.com/office/drawing/2014/main" id="{55212D62-0D9C-4BDF-8472-F37CA9AEE6DD}"/>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ranking [C7, C12, C4, C13, C9]</a:t>
            </a:r>
          </a:p>
        </p:txBody>
      </p:sp>
      <p:sp>
        <p:nvSpPr>
          <p:cNvPr id="6" name="footer-10">
            <a:extLst xmlns:a="http://schemas.openxmlformats.org/drawingml/2006/main">
              <a:ext uri="{FF2B5EF4-FFF2-40B4-BE49-F238E27FC236}">
                <a16:creationId xmlns:a16="http://schemas.microsoft.com/office/drawing/2014/main" id="{25802F6F-606D-4423-A054-67C9F61BC63F}"/>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10/15</a:t>
            </a:r>
          </a:p>
        </p:txBody>
      </p:sp>
    </p:spTree>
    <p:extLst>
      <p:ext uri="{BB962C8B-B14F-4D97-AF65-F5344CB8AC3E}">
        <p14:creationId xmlns:p14="http://schemas.microsoft.com/office/powerpoint/2010/main" val="3343586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11">
            <a:extLst xmlns:a="http://schemas.openxmlformats.org/drawingml/2006/main">
              <a:ext uri="{FF2B5EF4-FFF2-40B4-BE49-F238E27FC236}">
                <a16:creationId xmlns:a16="http://schemas.microsoft.com/office/drawing/2014/main" id="{C663AC84-D497-476F-BDA7-11088EE7136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11</a:t>
            </a:r>
          </a:p>
        </p:txBody>
      </p:sp>
      <p:sp>
        <p:nvSpPr>
          <p:cNvPr id="2" name="title-11">
            <a:extLst xmlns:a="http://schemas.openxmlformats.org/drawingml/2006/main">
              <a:ext uri="{FF2B5EF4-FFF2-40B4-BE49-F238E27FC236}">
                <a16:creationId xmlns:a16="http://schemas.microsoft.com/office/drawing/2014/main" id="{23AF1CC9-56DE-47E3-8451-4D49545D0377}"/>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Thực nghiệm so sánh 12 cấu hình trên cùng 1.336 câu</a:t>
            </a:r>
          </a:p>
        </p:txBody>
      </p:sp>
      <p:sp>
        <p:nvSpPr>
          <p:cNvPr id="3" name="subtitle-11">
            <a:extLst xmlns:a="http://schemas.openxmlformats.org/drawingml/2006/main">
              <a:ext uri="{FF2B5EF4-FFF2-40B4-BE49-F238E27FC236}">
                <a16:creationId xmlns:a16="http://schemas.microsoft.com/office/drawing/2014/main" id="{A3A3C0A4-D947-48CB-9391-525F48B8286C}"/>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Original/resolved × dense/BM25/hybrid × no-op/cross-encoder.</a:t>
            </a:r>
          </a:p>
        </p:txBody>
      </p:sp>
      <p:sp>
        <p:nvSpPr>
          <p:cNvPr id="4" name="image-placeholder-0">
            <a:extLst xmlns:a="http://schemas.openxmlformats.org/drawingml/2006/main">
              <a:ext uri="{FF2B5EF4-FFF2-40B4-BE49-F238E27FC236}">
                <a16:creationId xmlns:a16="http://schemas.microsoft.com/office/drawing/2014/main" id="{A0D95FF1-3E17-4AAD-BB95-CC8E24ACA87A}"/>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ma trận 12 cấu hình thực nghiệm</a:t>
            </a:r>
          </a:p>
        </p:txBody>
      </p:sp>
      <p:sp>
        <p:nvSpPr>
          <p:cNvPr id="5" name="footer-11">
            <a:extLst xmlns:a="http://schemas.openxmlformats.org/drawingml/2006/main">
              <a:ext uri="{FF2B5EF4-FFF2-40B4-BE49-F238E27FC236}">
                <a16:creationId xmlns:a16="http://schemas.microsoft.com/office/drawing/2014/main" id="{6CB7AB97-1752-40A0-8CC9-B6401A8EF1FA}"/>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11/15</a:t>
            </a:r>
          </a:p>
        </p:txBody>
      </p:sp>
    </p:spTree>
    <p:extLst>
      <p:ext uri="{BB962C8B-B14F-4D97-AF65-F5344CB8AC3E}">
        <p14:creationId xmlns:p14="http://schemas.microsoft.com/office/powerpoint/2010/main" val="1438383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12">
            <a:extLst xmlns:a="http://schemas.openxmlformats.org/drawingml/2006/main">
              <a:ext uri="{FF2B5EF4-FFF2-40B4-BE49-F238E27FC236}">
                <a16:creationId xmlns:a16="http://schemas.microsoft.com/office/drawing/2014/main" id="{3B5B0876-54CD-4D79-9057-708EF019143C}"/>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12</a:t>
            </a:r>
          </a:p>
        </p:txBody>
      </p:sp>
      <p:sp>
        <p:nvSpPr>
          <p:cNvPr id="2" name="title-12">
            <a:extLst xmlns:a="http://schemas.openxmlformats.org/drawingml/2006/main">
              <a:ext uri="{FF2B5EF4-FFF2-40B4-BE49-F238E27FC236}">
                <a16:creationId xmlns:a16="http://schemas.microsoft.com/office/drawing/2014/main" id="{75DF2356-1746-4B43-8397-0B3582C3C5E3}"/>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BM25 kết hợp cross-encoder cho retrieval tốt nhất</a:t>
            </a:r>
          </a:p>
        </p:txBody>
      </p:sp>
      <p:sp>
        <p:nvSpPr>
          <p:cNvPr id="3" name="subtitle-12">
            <a:extLst xmlns:a="http://schemas.openxmlformats.org/drawingml/2006/main">
              <a:ext uri="{FF2B5EF4-FFF2-40B4-BE49-F238E27FC236}">
                <a16:creationId xmlns:a16="http://schemas.microsoft.com/office/drawing/2014/main" id="{A127D08E-0CFB-4F8A-8031-17CF7D3BDC1F}"/>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Trên resolved questions: Hit@5 đạt 82,56% và MRR@5 đạt 73,69%.</a:t>
            </a:r>
          </a:p>
        </p:txBody>
      </p:sp>
      <p:sp>
        <p:nvSpPr>
          <p:cNvPr id="4" name="image-placeholder-0">
            <a:extLst xmlns:a="http://schemas.openxmlformats.org/drawingml/2006/main">
              <a:ext uri="{FF2B5EF4-FFF2-40B4-BE49-F238E27FC236}">
                <a16:creationId xmlns:a16="http://schemas.microsoft.com/office/drawing/2014/main" id="{2214C3A5-C2DA-4E0B-A60B-1DA05E06E7D1}"/>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1: heatmap MRR@5</a:t>
            </a:r>
          </a:p>
        </p:txBody>
      </p:sp>
      <p:sp>
        <p:nvSpPr>
          <p:cNvPr id="5" name="image-placeholder-1">
            <a:extLst xmlns:a="http://schemas.openxmlformats.org/drawingml/2006/main">
              <a:ext uri="{FF2B5EF4-FFF2-40B4-BE49-F238E27FC236}">
                <a16:creationId xmlns:a16="http://schemas.microsoft.com/office/drawing/2014/main" id="{EE3841B4-5A12-4474-90EE-05F3F6192623}"/>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2: trước và sau reranking</a:t>
            </a:r>
          </a:p>
        </p:txBody>
      </p:sp>
      <p:sp>
        <p:nvSpPr>
          <p:cNvPr id="6" name="footer-12">
            <a:extLst xmlns:a="http://schemas.openxmlformats.org/drawingml/2006/main">
              <a:ext uri="{FF2B5EF4-FFF2-40B4-BE49-F238E27FC236}">
                <a16:creationId xmlns:a16="http://schemas.microsoft.com/office/drawing/2014/main" id="{07118B64-DC4F-41CA-B5A8-D7D90A24B3FC}"/>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12/15</a:t>
            </a:r>
          </a:p>
        </p:txBody>
      </p:sp>
    </p:spTree>
    <p:extLst>
      <p:ext uri="{BB962C8B-B14F-4D97-AF65-F5344CB8AC3E}">
        <p14:creationId xmlns:p14="http://schemas.microsoft.com/office/powerpoint/2010/main" val="5691249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13">
            <a:extLst xmlns:a="http://schemas.openxmlformats.org/drawingml/2006/main">
              <a:ext uri="{FF2B5EF4-FFF2-40B4-BE49-F238E27FC236}">
                <a16:creationId xmlns:a16="http://schemas.microsoft.com/office/drawing/2014/main" id="{E69177BF-1685-43AE-99A4-F3B19D694D9C}"/>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13</a:t>
            </a:r>
          </a:p>
        </p:txBody>
      </p:sp>
      <p:sp>
        <p:nvSpPr>
          <p:cNvPr id="2" name="title-13">
            <a:extLst xmlns:a="http://schemas.openxmlformats.org/drawingml/2006/main">
              <a:ext uri="{FF2B5EF4-FFF2-40B4-BE49-F238E27FC236}">
                <a16:creationId xmlns:a16="http://schemas.microsoft.com/office/drawing/2014/main" id="{BECF0623-746F-4465-AA6A-428D06D5A76C}"/>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Question resolution tạo ra thay đổi lớn hơn đổi retriever</a:t>
            </a:r>
          </a:p>
        </p:txBody>
      </p:sp>
      <p:sp>
        <p:nvSpPr>
          <p:cNvPr id="3" name="subtitle-13">
            <a:extLst xmlns:a="http://schemas.openxmlformats.org/drawingml/2006/main">
              <a:ext uri="{FF2B5EF4-FFF2-40B4-BE49-F238E27FC236}">
                <a16:creationId xmlns:a16="http://schemas.microsoft.com/office/drawing/2014/main" id="{553C73B1-33C4-4C63-9872-919B30668267}"/>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BM25 + cross-encoder tăng Hit@5 từ 36,83% lên 82,56% khi dùng resolved questions.</a:t>
            </a:r>
          </a:p>
        </p:txBody>
      </p:sp>
      <p:sp>
        <p:nvSpPr>
          <p:cNvPr id="4" name="image-placeholder-0">
            <a:extLst xmlns:a="http://schemas.openxmlformats.org/drawingml/2006/main">
              <a:ext uri="{FF2B5EF4-FFF2-40B4-BE49-F238E27FC236}">
                <a16:creationId xmlns:a16="http://schemas.microsoft.com/office/drawing/2014/main" id="{65D33477-E3DE-4D57-97C2-94D990069DEB}"/>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BIỂU ĐỒ: Original vs Resolved cho ba retriever</a:t>
            </a:r>
          </a:p>
        </p:txBody>
      </p:sp>
      <p:sp>
        <p:nvSpPr>
          <p:cNvPr id="5" name="footer-13">
            <a:extLst xmlns:a="http://schemas.openxmlformats.org/drawingml/2006/main">
              <a:ext uri="{FF2B5EF4-FFF2-40B4-BE49-F238E27FC236}">
                <a16:creationId xmlns:a16="http://schemas.microsoft.com/office/drawing/2014/main" id="{DCE832AF-2FEC-4802-9777-9F31F694E53A}"/>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13/15</a:t>
            </a:r>
          </a:p>
        </p:txBody>
      </p:sp>
    </p:spTree>
    <p:extLst>
      <p:ext uri="{BB962C8B-B14F-4D97-AF65-F5344CB8AC3E}">
        <p14:creationId xmlns:p14="http://schemas.microsoft.com/office/powerpoint/2010/main" val="15137970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14">
            <a:extLst xmlns:a="http://schemas.openxmlformats.org/drawingml/2006/main">
              <a:ext uri="{FF2B5EF4-FFF2-40B4-BE49-F238E27FC236}">
                <a16:creationId xmlns:a16="http://schemas.microsoft.com/office/drawing/2014/main" id="{AF583DE1-CD7C-4F73-8BFC-2504133107C2}"/>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14</a:t>
            </a:r>
          </a:p>
        </p:txBody>
      </p:sp>
      <p:sp>
        <p:nvSpPr>
          <p:cNvPr id="2" name="title-14">
            <a:extLst xmlns:a="http://schemas.openxmlformats.org/drawingml/2006/main">
              <a:ext uri="{FF2B5EF4-FFF2-40B4-BE49-F238E27FC236}">
                <a16:creationId xmlns:a16="http://schemas.microsoft.com/office/drawing/2014/main" id="{8BA9C97C-F26D-454A-953A-6E7AE1825F30}"/>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Kết quả end-to-end vẫn bị giới hạn bởi API coverage</a:t>
            </a:r>
          </a:p>
        </p:txBody>
      </p:sp>
      <p:sp>
        <p:nvSpPr>
          <p:cNvPr id="3" name="subtitle-14">
            <a:extLst xmlns:a="http://schemas.openxmlformats.org/drawingml/2006/main">
              <a:ext uri="{FF2B5EF4-FFF2-40B4-BE49-F238E27FC236}">
                <a16:creationId xmlns:a16="http://schemas.microsoft.com/office/drawing/2014/main" id="{C6A52924-5962-4956-BB3B-842C17B12A1E}"/>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Retrieval hoàn tất 1.336 câu, nhưng generation chỉ thành công 760 câu — tương đương 56,89%.</a:t>
            </a:r>
          </a:p>
        </p:txBody>
      </p:sp>
      <p:sp>
        <p:nvSpPr>
          <p:cNvPr id="4" name="image-placeholder-0">
            <a:extLst xmlns:a="http://schemas.openxmlformats.org/drawingml/2006/main">
              <a:ext uri="{FF2B5EF4-FFF2-40B4-BE49-F238E27FC236}">
                <a16:creationId xmlns:a16="http://schemas.microsoft.com/office/drawing/2014/main" id="{5C9A6B62-CF6F-4340-A459-CC51117CE6CD}"/>
              </a:ext>
            </a:extLst>
          </p:cNvPr>
          <p:cNvSpPr>
            <a:spLocks xmlns:a="http://schemas.openxmlformats.org/drawingml/2006/main" noGrp="1"/>
          </p:cNvSpPr>
          <p:nvPr/>
        </p:nvSpPr>
        <p:spPr>
          <a:xfrm xmlns:a="http://schemas.openxmlformats.org/drawingml/2006/main">
            <a:off x="60960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1: funnel 1.336 → 760</a:t>
            </a:r>
          </a:p>
        </p:txBody>
      </p:sp>
      <p:sp>
        <p:nvSpPr>
          <p:cNvPr id="5" name="image-placeholder-1">
            <a:extLst xmlns:a="http://schemas.openxmlformats.org/drawingml/2006/main">
              <a:ext uri="{FF2B5EF4-FFF2-40B4-BE49-F238E27FC236}">
                <a16:creationId xmlns:a16="http://schemas.microsoft.com/office/drawing/2014/main" id="{26C99C83-1D03-430E-B91C-B1D3B7BA45D2}"/>
              </a:ext>
            </a:extLst>
          </p:cNvPr>
          <p:cNvSpPr>
            <a:spLocks xmlns:a="http://schemas.openxmlformats.org/drawingml/2006/main" noGrp="1"/>
          </p:cNvSpPr>
          <p:nvPr/>
        </p:nvSpPr>
        <p:spPr>
          <a:xfrm xmlns:a="http://schemas.openxmlformats.org/drawingml/2006/main">
            <a:off x="6267450" y="2857500"/>
            <a:ext cx="531495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2: F1, citation F1 và latency</a:t>
            </a:r>
          </a:p>
        </p:txBody>
      </p:sp>
      <p:sp>
        <p:nvSpPr>
          <p:cNvPr id="6" name="footer-14">
            <a:extLst xmlns:a="http://schemas.openxmlformats.org/drawingml/2006/main">
              <a:ext uri="{FF2B5EF4-FFF2-40B4-BE49-F238E27FC236}">
                <a16:creationId xmlns:a16="http://schemas.microsoft.com/office/drawing/2014/main" id="{60DF8F2F-0E08-48A5-979F-552434D5324F}"/>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14/15</a:t>
            </a:r>
          </a:p>
        </p:txBody>
      </p:sp>
    </p:spTree>
    <p:extLst>
      <p:ext uri="{BB962C8B-B14F-4D97-AF65-F5344CB8AC3E}">
        <p14:creationId xmlns:p14="http://schemas.microsoft.com/office/powerpoint/2010/main" val="18598239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15">
            <a:extLst xmlns:a="http://schemas.openxmlformats.org/drawingml/2006/main">
              <a:ext uri="{FF2B5EF4-FFF2-40B4-BE49-F238E27FC236}">
                <a16:creationId xmlns:a16="http://schemas.microsoft.com/office/drawing/2014/main" id="{0A4A8B9C-F4CD-4E7A-AC84-6001C41FC6A8}"/>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15</a:t>
            </a:r>
          </a:p>
        </p:txBody>
      </p:sp>
      <p:sp>
        <p:nvSpPr>
          <p:cNvPr id="2" name="title-15">
            <a:extLst xmlns:a="http://schemas.openxmlformats.org/drawingml/2006/main">
              <a:ext uri="{FF2B5EF4-FFF2-40B4-BE49-F238E27FC236}">
                <a16:creationId xmlns:a16="http://schemas.microsoft.com/office/drawing/2014/main" id="{AA639A85-B610-49A1-A8E2-B18C776B9D0A}"/>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Năm tuần tới ưu tiên độ tin cậy và các ablation có kiểm soát</a:t>
            </a:r>
          </a:p>
        </p:txBody>
      </p:sp>
      <p:sp>
        <p:nvSpPr>
          <p:cNvPr id="3" name="subtitle-15">
            <a:extLst xmlns:a="http://schemas.openxmlformats.org/drawingml/2006/main">
              <a:ext uri="{FF2B5EF4-FFF2-40B4-BE49-F238E27FC236}">
                <a16:creationId xmlns:a16="http://schemas.microsoft.com/office/drawing/2014/main" id="{89078313-F1F5-45E4-A38B-728EC26E3900}"/>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Ổn định benchmark → thử data/model → chọn cấu hình tốt nhất → đánh giá end-to-end.</a:t>
            </a:r>
          </a:p>
        </p:txBody>
      </p:sp>
      <p:sp>
        <p:nvSpPr>
          <p:cNvPr id="4" name="image-placeholder-0">
            <a:extLst xmlns:a="http://schemas.openxmlformats.org/drawingml/2006/main">
              <a:ext uri="{FF2B5EF4-FFF2-40B4-BE49-F238E27FC236}">
                <a16:creationId xmlns:a16="http://schemas.microsoft.com/office/drawing/2014/main" id="{695714FA-165B-4931-97C1-E9C919353C7C}"/>
              </a:ext>
            </a:extLst>
          </p:cNvPr>
          <p:cNvSpPr>
            <a:spLocks xmlns:a="http://schemas.openxmlformats.org/drawingml/2006/main" noGrp="1"/>
          </p:cNvSpPr>
          <p:nvPr/>
        </p:nvSpPr>
        <p:spPr>
          <a:xfrm xmlns:a="http://schemas.openxmlformats.org/drawingml/2006/main">
            <a:off x="609600" y="2857500"/>
            <a:ext cx="10972800" cy="2781300"/>
          </a:xfrm>
          <a:prstGeom xmlns:a="http://schemas.openxmlformats.org/drawingml/2006/main" prst="rect">
            <a:avLst/>
          </a:prstGeom>
          <a:solidFill xmlns:a="http://schemas.openxmlformats.org/drawingml/2006/main">
            <a:srgbClr val="F8FAFC"/>
          </a:solidFill>
          <a:ln xmlns:a="http://schemas.openxmlformats.org/drawingml/2006/main" w="14288">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4748B"/>
                </a:solidFill>
                <a:latin typeface="Arial"/>
                <a:ea typeface="Arial"/>
                <a:cs typeface="Arial"/>
              </a:defRPr>
            </a:pPr>
            <a:r>
              <a:rPr sz="1275" b="0">
                <a:solidFill>
                  <a:srgbClr val="64748B"/>
                </a:solidFill>
                <a:latin typeface="Arial"/>
                <a:ea typeface="Arial"/>
                <a:cs typeface="Arial"/>
              </a:rPr>
              <a:t>HÌNH: timeline 5 tuần và phân công 4 thành viên</a:t>
            </a:r>
          </a:p>
        </p:txBody>
      </p:sp>
      <p:sp>
        <p:nvSpPr>
          <p:cNvPr id="5" name="footer-15">
            <a:extLst xmlns:a="http://schemas.openxmlformats.org/drawingml/2006/main">
              <a:ext uri="{FF2B5EF4-FFF2-40B4-BE49-F238E27FC236}">
                <a16:creationId xmlns:a16="http://schemas.microsoft.com/office/drawing/2014/main" id="{2B742BC4-7BD4-4CF9-8A74-3E2DD68C88D6}"/>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15/15</a:t>
            </a:r>
          </a:p>
        </p:txBody>
      </p:sp>
    </p:spTree>
    <p:extLst>
      <p:ext uri="{BB962C8B-B14F-4D97-AF65-F5344CB8AC3E}">
        <p14:creationId xmlns:p14="http://schemas.microsoft.com/office/powerpoint/2010/main" val="17861239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2026-07-16T15:51:19.3590000Z</dcterms:created>
  <dcterms:modified xsi:type="dcterms:W3CDTF">2026-07-16T15:51:19.3590000Z</dcterms:modified>
</coreProperties>
</file>